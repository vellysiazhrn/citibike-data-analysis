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Oswald Medium"/>
      <p:regular r:id="rId20"/>
      <p:bold r:id="rId21"/>
    </p:embeddedFont>
    <p:embeddedFont>
      <p:font typeface="Roboto"/>
      <p:regular r:id="rId22"/>
      <p:bold r:id="rId23"/>
      <p:italic r:id="rId24"/>
      <p:boldItalic r:id="rId25"/>
    </p:embeddedFont>
    <p:embeddedFont>
      <p:font typeface="Roboto Light"/>
      <p:regular r:id="rId26"/>
      <p:bold r:id="rId27"/>
      <p:italic r:id="rId28"/>
      <p:boldItalic r:id="rId29"/>
    </p:embeddedFont>
    <p:embeddedFont>
      <p:font typeface="Oswald"/>
      <p:regular r:id="rId30"/>
      <p:bold r:id="rId31"/>
    </p:embeddedFont>
    <p:embeddedFont>
      <p:font typeface="Nunito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Medium-regular.fntdata"/><Relationship Id="rId22" Type="http://schemas.openxmlformats.org/officeDocument/2006/relationships/font" Target="fonts/Roboto-regular.fntdata"/><Relationship Id="rId21" Type="http://schemas.openxmlformats.org/officeDocument/2006/relationships/font" Target="fonts/OswaldMedium-bold.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Light-regular.fntdata"/><Relationship Id="rId25" Type="http://schemas.openxmlformats.org/officeDocument/2006/relationships/font" Target="fonts/Roboto-boldItalic.fntdata"/><Relationship Id="rId28" Type="http://schemas.openxmlformats.org/officeDocument/2006/relationships/font" Target="fonts/RobotoLight-italic.fntdata"/><Relationship Id="rId27" Type="http://schemas.openxmlformats.org/officeDocument/2006/relationships/font" Target="fonts/Roboto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Ligh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6.xml"/><Relationship Id="rId33" Type="http://schemas.openxmlformats.org/officeDocument/2006/relationships/font" Target="fonts/NunitoLight-bold.fntdata"/><Relationship Id="rId10" Type="http://schemas.openxmlformats.org/officeDocument/2006/relationships/slide" Target="slides/slide5.xml"/><Relationship Id="rId32" Type="http://schemas.openxmlformats.org/officeDocument/2006/relationships/font" Target="fonts/NunitoLight-regular.fntdata"/><Relationship Id="rId13" Type="http://schemas.openxmlformats.org/officeDocument/2006/relationships/slide" Target="slides/slide8.xml"/><Relationship Id="rId35" Type="http://schemas.openxmlformats.org/officeDocument/2006/relationships/font" Target="fonts/NunitoLight-boldItalic.fntdata"/><Relationship Id="rId12" Type="http://schemas.openxmlformats.org/officeDocument/2006/relationships/slide" Target="slides/slide7.xml"/><Relationship Id="rId34" Type="http://schemas.openxmlformats.org/officeDocument/2006/relationships/font" Target="fonts/NunitoLigh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f4f4bc9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f4f4bc9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f9f517ca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f9f517ca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f9f517ca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f9f517ca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9f517ca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9f517ca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f9f517ca5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f9f517ca5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f9f517ca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f9f517ca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f9f517ca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f9f517ca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f9f517ca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f9f517ca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f9f517ca5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f9f517ca5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f9f517ca5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f9f517ca5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f9f517ca5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f9f517ca5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f9f517ca5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f9f517ca5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f9f517ca5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f9f517ca5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0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9" name="Google Shape;19;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200"/>
              <a:buFont typeface="Roboto Light"/>
              <a:buNone/>
              <a:defRPr sz="2200">
                <a:latin typeface="Roboto Light"/>
                <a:ea typeface="Roboto Light"/>
                <a:cs typeface="Roboto Light"/>
                <a:sym typeface="Robot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4"/>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2" name="Google Shape;4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0"/>
            <a:ext cx="9144003" cy="5143501"/>
          </a:xfrm>
          <a:prstGeom prst="rect">
            <a:avLst/>
          </a:prstGeom>
          <a:noFill/>
          <a:ln>
            <a:noFill/>
          </a:ln>
        </p:spPr>
      </p:pic>
      <p:pic>
        <p:nvPicPr>
          <p:cNvPr id="7" name="Google Shape;7;p1"/>
          <p:cNvPicPr preferRelativeResize="0"/>
          <p:nvPr/>
        </p:nvPicPr>
        <p:blipFill>
          <a:blip r:embed="rId2">
            <a:alphaModFix/>
          </a:blip>
          <a:stretch>
            <a:fillRect/>
          </a:stretch>
        </p:blipFill>
        <p:spPr>
          <a:xfrm rot="-8400002">
            <a:off x="8800593" y="-90288"/>
            <a:ext cx="886149" cy="1343523"/>
          </a:xfrm>
          <a:prstGeom prst="rect">
            <a:avLst/>
          </a:prstGeom>
          <a:noFill/>
          <a:ln>
            <a:noFill/>
          </a:ln>
        </p:spPr>
      </p:pic>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3">
            <a:alphaModFix/>
          </a:blip>
          <a:stretch>
            <a:fillRect/>
          </a:stretch>
        </p:blipFill>
        <p:spPr>
          <a:xfrm>
            <a:off x="1611224" y="4568875"/>
            <a:ext cx="886150" cy="1359349"/>
          </a:xfrm>
          <a:prstGeom prst="rect">
            <a:avLst/>
          </a:prstGeom>
          <a:noFill/>
          <a:ln>
            <a:noFill/>
          </a:ln>
        </p:spPr>
      </p:pic>
      <p:pic>
        <p:nvPicPr>
          <p:cNvPr id="10" name="Google Shape;10;p1"/>
          <p:cNvPicPr preferRelativeResize="0"/>
          <p:nvPr/>
        </p:nvPicPr>
        <p:blipFill>
          <a:blip r:embed="rId4">
            <a:alphaModFix/>
          </a:blip>
          <a:stretch>
            <a:fillRect/>
          </a:stretch>
        </p:blipFill>
        <p:spPr>
          <a:xfrm>
            <a:off x="5562800" y="4504275"/>
            <a:ext cx="987831" cy="1359349"/>
          </a:xfrm>
          <a:prstGeom prst="rect">
            <a:avLst/>
          </a:prstGeom>
          <a:noFill/>
          <a:ln>
            <a:noFill/>
          </a:ln>
        </p:spPr>
      </p:pic>
      <p:pic>
        <p:nvPicPr>
          <p:cNvPr id="11" name="Google Shape;11;p1"/>
          <p:cNvPicPr preferRelativeResize="0"/>
          <p:nvPr/>
        </p:nvPicPr>
        <p:blipFill>
          <a:blip r:embed="rId2">
            <a:alphaModFix/>
          </a:blip>
          <a:stretch>
            <a:fillRect/>
          </a:stretch>
        </p:blipFill>
        <p:spPr>
          <a:xfrm rot="1799997">
            <a:off x="-680594" y="2242087"/>
            <a:ext cx="886150" cy="1343523"/>
          </a:xfrm>
          <a:prstGeom prst="rect">
            <a:avLst/>
          </a:prstGeom>
          <a:noFill/>
          <a:ln>
            <a:noFill/>
          </a:ln>
        </p:spPr>
      </p:pic>
      <p:pic>
        <p:nvPicPr>
          <p:cNvPr id="12" name="Google Shape;12;p1"/>
          <p:cNvPicPr preferRelativeResize="0"/>
          <p:nvPr/>
        </p:nvPicPr>
        <p:blipFill>
          <a:blip r:embed="rId3">
            <a:alphaModFix/>
          </a:blip>
          <a:stretch>
            <a:fillRect/>
          </a:stretch>
        </p:blipFill>
        <p:spPr>
          <a:xfrm>
            <a:off x="4596699" y="-914325"/>
            <a:ext cx="886150" cy="1359349"/>
          </a:xfrm>
          <a:prstGeom prst="rect">
            <a:avLst/>
          </a:prstGeom>
          <a:noFill/>
          <a:ln>
            <a:noFill/>
          </a:ln>
        </p:spPr>
      </p:pic>
      <p:pic>
        <p:nvPicPr>
          <p:cNvPr id="13" name="Google Shape;13;p1"/>
          <p:cNvPicPr preferRelativeResize="0"/>
          <p:nvPr/>
        </p:nvPicPr>
        <p:blipFill>
          <a:blip r:embed="rId4">
            <a:alphaModFix/>
          </a:blip>
          <a:stretch>
            <a:fillRect/>
          </a:stretch>
        </p:blipFill>
        <p:spPr>
          <a:xfrm rot="5400000">
            <a:off x="8915051" y="2473999"/>
            <a:ext cx="987831" cy="1359352"/>
          </a:xfrm>
          <a:prstGeom prst="rect">
            <a:avLst/>
          </a:prstGeom>
          <a:noFill/>
          <a:ln>
            <a:noFill/>
          </a:ln>
        </p:spPr>
      </p:pic>
      <p:pic>
        <p:nvPicPr>
          <p:cNvPr id="14" name="Google Shape;14;p1"/>
          <p:cNvPicPr preferRelativeResize="0"/>
          <p:nvPr/>
        </p:nvPicPr>
        <p:blipFill>
          <a:blip r:embed="rId4">
            <a:alphaModFix/>
          </a:blip>
          <a:stretch>
            <a:fillRect/>
          </a:stretch>
        </p:blipFill>
        <p:spPr>
          <a:xfrm>
            <a:off x="229850" y="-854350"/>
            <a:ext cx="987831" cy="1359349"/>
          </a:xfrm>
          <a:prstGeom prst="rect">
            <a:avLst/>
          </a:prstGeom>
          <a:noFill/>
          <a:ln>
            <a:noFill/>
          </a:ln>
        </p:spPr>
      </p:pic>
      <p:sp>
        <p:nvSpPr>
          <p:cNvPr id="15" name="Google Shape;15;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Oswald Medium"/>
              <a:buNone/>
              <a:defRPr sz="2800">
                <a:solidFill>
                  <a:schemeClr val="dk1"/>
                </a:solidFill>
                <a:latin typeface="Oswald Medium"/>
                <a:ea typeface="Oswald Medium"/>
                <a:cs typeface="Oswald Medium"/>
                <a:sym typeface="Oswald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 name="Google Shape;16;p1"/>
          <p:cNvSpPr txBox="1"/>
          <p:nvPr>
            <p:ph idx="1" type="body"/>
          </p:nvPr>
        </p:nvSpPr>
        <p:spPr>
          <a:xfrm>
            <a:off x="311700" y="1152475"/>
            <a:ext cx="82677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Light"/>
              <a:buChar char="●"/>
              <a:defRPr sz="18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2pPr>
            <a:lvl3pPr indent="-317500" lvl="2" marL="1371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3pPr>
            <a:lvl4pPr indent="-317500" lvl="3" marL="1828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4pPr>
            <a:lvl5pPr indent="-317500" lvl="4" marL="22860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5pPr>
            <a:lvl6pPr indent="-317500" lvl="5" marL="27432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6pPr>
            <a:lvl7pPr indent="-317500" lvl="6" marL="3200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7pPr>
            <a:lvl8pPr indent="-317500" lvl="7" marL="3657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8pPr>
            <a:lvl9pPr indent="-317500" lvl="8" marL="4114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9pPr>
          </a:lstStyle>
          <a:p/>
        </p:txBody>
      </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p:nvPr/>
        </p:nvSpPr>
        <p:spPr>
          <a:xfrm>
            <a:off x="541650" y="1829483"/>
            <a:ext cx="8061300" cy="924300"/>
          </a:xfrm>
          <a:prstGeom prst="roundRect">
            <a:avLst>
              <a:gd fmla="val 3356" name="adj"/>
            </a:avLst>
          </a:prstGeom>
          <a:solidFill>
            <a:srgbClr val="CCB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ph type="ctrTitle"/>
          </p:nvPr>
        </p:nvSpPr>
        <p:spPr>
          <a:xfrm>
            <a:off x="731250" y="1734111"/>
            <a:ext cx="7871700" cy="1056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 Bike Data Analysis</a:t>
            </a:r>
            <a:endParaRPr/>
          </a:p>
        </p:txBody>
      </p:sp>
      <p:sp>
        <p:nvSpPr>
          <p:cNvPr id="64" name="Google Shape;64;p13"/>
          <p:cNvSpPr txBox="1"/>
          <p:nvPr>
            <p:ph idx="1" type="subTitle"/>
          </p:nvPr>
        </p:nvSpPr>
        <p:spPr>
          <a:xfrm>
            <a:off x="311700" y="290406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Nunito Light"/>
                <a:ea typeface="Nunito Light"/>
                <a:cs typeface="Nunito Light"/>
                <a:sym typeface="Nunito Light"/>
              </a:rPr>
              <a:t>By Vellysia Reva Nazharina</a:t>
            </a:r>
            <a:endParaRPr sz="2200">
              <a:solidFill>
                <a:schemeClr val="dk1"/>
              </a:solidFill>
              <a:latin typeface="Nunito Light"/>
              <a:ea typeface="Nunito Light"/>
              <a:cs typeface="Nunito Light"/>
              <a:sym typeface="Nuni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a:t>
            </a:r>
            <a:endParaRPr/>
          </a:p>
        </p:txBody>
      </p:sp>
      <p:sp>
        <p:nvSpPr>
          <p:cNvPr id="70" name="Google Shape;70;p14"/>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i="1" lang="en"/>
              <a:t>Memahami perilaku pengguna NY Citi Bike (pengguna sekali pakai dan pelanggan jangka panjang)</a:t>
            </a:r>
            <a:br>
              <a:rPr i="1" lang="en"/>
            </a:br>
            <a:endParaRPr i="1"/>
          </a:p>
          <a:p>
            <a:pPr indent="-342900" lvl="0" marL="457200" rtl="0" algn="l">
              <a:spcBef>
                <a:spcPts val="0"/>
              </a:spcBef>
              <a:spcAft>
                <a:spcPts val="0"/>
              </a:spcAft>
              <a:buSzPts val="1800"/>
              <a:buChar char="●"/>
            </a:pPr>
            <a:r>
              <a:rPr i="1" lang="en"/>
              <a:t>Analisis ini bertujuan untuk:</a:t>
            </a:r>
            <a:endParaRPr i="1"/>
          </a:p>
          <a:p>
            <a:pPr indent="-317500" lvl="1" marL="914400" rtl="0" algn="l">
              <a:spcBef>
                <a:spcPts val="0"/>
              </a:spcBef>
              <a:spcAft>
                <a:spcPts val="0"/>
              </a:spcAft>
              <a:buSzPts val="1400"/>
              <a:buChar char="○"/>
            </a:pPr>
            <a:r>
              <a:rPr i="1" lang="en"/>
              <a:t>Menentukan lokasi yang membutuhkan penambahan sepeda</a:t>
            </a:r>
            <a:endParaRPr i="1"/>
          </a:p>
          <a:p>
            <a:pPr indent="-317500" lvl="1" marL="914400" rtl="0" algn="l">
              <a:spcBef>
                <a:spcPts val="0"/>
              </a:spcBef>
              <a:spcAft>
                <a:spcPts val="0"/>
              </a:spcAft>
              <a:buSzPts val="1400"/>
              <a:buChar char="○"/>
            </a:pPr>
            <a:r>
              <a:rPr i="1" lang="en"/>
              <a:t>Memahami pola penggunaan berdasarkan usia</a:t>
            </a:r>
            <a:endParaRPr i="1"/>
          </a:p>
          <a:p>
            <a:pPr indent="-317500" lvl="1" marL="914400" rtl="0" algn="l">
              <a:spcBef>
                <a:spcPts val="0"/>
              </a:spcBef>
              <a:spcAft>
                <a:spcPts val="0"/>
              </a:spcAft>
              <a:buSzPts val="1400"/>
              <a:buChar char="○"/>
            </a:pPr>
            <a:r>
              <a:rPr i="1" lang="en"/>
              <a:t>Mendukung pengambilan keputusan berbasis data</a:t>
            </a:r>
            <a:endParaRPr i="1"/>
          </a:p>
          <a:p>
            <a:pPr indent="0" lvl="0" marL="914400" rtl="0" algn="l">
              <a:spcBef>
                <a:spcPts val="1200"/>
              </a:spcBef>
              <a:spcAft>
                <a:spcPts val="1200"/>
              </a:spcAft>
              <a:buNone/>
            </a:pPr>
            <a:r>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questions:</a:t>
            </a:r>
            <a:endParaRPr/>
          </a:p>
        </p:txBody>
      </p:sp>
      <p:sp>
        <p:nvSpPr>
          <p:cNvPr id="76" name="Google Shape;76;p15"/>
          <p:cNvSpPr txBox="1"/>
          <p:nvPr>
            <p:ph idx="1" type="body"/>
          </p:nvPr>
        </p:nvSpPr>
        <p:spPr>
          <a:xfrm>
            <a:off x="311700" y="1152475"/>
            <a:ext cx="82677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Font typeface="Roboto"/>
              <a:buChar char="●"/>
            </a:pPr>
            <a:r>
              <a:rPr lang="en">
                <a:latin typeface="Roboto"/>
                <a:ea typeface="Roboto"/>
                <a:cs typeface="Roboto"/>
                <a:sym typeface="Roboto"/>
              </a:rPr>
              <a:t>Apa saja lokasi pengambilan sepeda Citi Bike yang paling populer di seluruh kota?</a:t>
            </a:r>
            <a:br>
              <a:rPr lang="en">
                <a:latin typeface="Roboto"/>
                <a:ea typeface="Roboto"/>
                <a:cs typeface="Roboto"/>
                <a:sym typeface="Roboto"/>
              </a:rPr>
            </a:br>
            <a:endParaRPr>
              <a:latin typeface="Roboto"/>
              <a:ea typeface="Roboto"/>
              <a:cs typeface="Roboto"/>
              <a:sym typeface="Roboto"/>
            </a:endParaRPr>
          </a:p>
          <a:p>
            <a:pPr indent="-334327" lvl="0" marL="457200" rtl="0" algn="l">
              <a:spcBef>
                <a:spcPts val="0"/>
              </a:spcBef>
              <a:spcAft>
                <a:spcPts val="0"/>
              </a:spcAft>
              <a:buSzPct val="100000"/>
              <a:buFont typeface="Roboto"/>
              <a:buChar char="●"/>
            </a:pPr>
            <a:r>
              <a:rPr lang="en">
                <a:latin typeface="Roboto"/>
                <a:ea typeface="Roboto"/>
                <a:cs typeface="Roboto"/>
                <a:sym typeface="Roboto"/>
              </a:rPr>
              <a:t>Bagaimana rata-rata durasi perjalanan bervariasi di antara kelompok usia yang berbeda?</a:t>
            </a:r>
            <a:br>
              <a:rPr lang="en">
                <a:latin typeface="Roboto"/>
                <a:ea typeface="Roboto"/>
                <a:cs typeface="Roboto"/>
                <a:sym typeface="Roboto"/>
              </a:rPr>
            </a:br>
            <a:endParaRPr>
              <a:latin typeface="Roboto"/>
              <a:ea typeface="Roboto"/>
              <a:cs typeface="Roboto"/>
              <a:sym typeface="Roboto"/>
            </a:endParaRPr>
          </a:p>
          <a:p>
            <a:pPr indent="-334327" lvl="0" marL="457200" rtl="0" algn="l">
              <a:spcBef>
                <a:spcPts val="0"/>
              </a:spcBef>
              <a:spcAft>
                <a:spcPts val="0"/>
              </a:spcAft>
              <a:buSzPct val="100000"/>
              <a:buFont typeface="Roboto"/>
              <a:buChar char="●"/>
            </a:pPr>
            <a:r>
              <a:rPr lang="en">
                <a:latin typeface="Roboto"/>
                <a:ea typeface="Roboto"/>
                <a:cs typeface="Roboto"/>
                <a:sym typeface="Roboto"/>
              </a:rPr>
              <a:t>Kelompok usia manakah yang paling banyak menyewa sepeda?</a:t>
            </a:r>
            <a:br>
              <a:rPr lang="en">
                <a:latin typeface="Roboto"/>
                <a:ea typeface="Roboto"/>
                <a:cs typeface="Roboto"/>
                <a:sym typeface="Roboto"/>
              </a:rPr>
            </a:br>
            <a:endParaRPr>
              <a:latin typeface="Roboto"/>
              <a:ea typeface="Roboto"/>
              <a:cs typeface="Roboto"/>
              <a:sym typeface="Roboto"/>
            </a:endParaRPr>
          </a:p>
          <a:p>
            <a:pPr indent="-334327" lvl="0" marL="457200" rtl="0" algn="l">
              <a:spcBef>
                <a:spcPts val="0"/>
              </a:spcBef>
              <a:spcAft>
                <a:spcPts val="0"/>
              </a:spcAft>
              <a:buSzPct val="100000"/>
              <a:buFont typeface="Roboto"/>
              <a:buChar char="●"/>
            </a:pPr>
            <a:r>
              <a:rPr lang="en">
                <a:latin typeface="Roboto"/>
                <a:ea typeface="Roboto"/>
                <a:cs typeface="Roboto"/>
                <a:sym typeface="Roboto"/>
              </a:rPr>
              <a:t>Bagaimana perbedaan pola penyewaan antara pengguna sekali pakai dan pelanggan jangka panjang pada hari-hari yang berbeda dalam seminggu?</a:t>
            </a:r>
            <a:br>
              <a:rPr lang="en">
                <a:latin typeface="Roboto"/>
                <a:ea typeface="Roboto"/>
                <a:cs typeface="Roboto"/>
                <a:sym typeface="Roboto"/>
              </a:rPr>
            </a:br>
            <a:endParaRPr>
              <a:latin typeface="Roboto"/>
              <a:ea typeface="Roboto"/>
              <a:cs typeface="Roboto"/>
              <a:sym typeface="Roboto"/>
            </a:endParaRPr>
          </a:p>
          <a:p>
            <a:pPr indent="-334327" lvl="0" marL="457200" rtl="0" algn="l">
              <a:spcBef>
                <a:spcPts val="0"/>
              </a:spcBef>
              <a:spcAft>
                <a:spcPts val="0"/>
              </a:spcAft>
              <a:buSzPct val="100000"/>
              <a:buFont typeface="Roboto"/>
              <a:buChar char="●"/>
            </a:pPr>
            <a:r>
              <a:rPr lang="en">
                <a:latin typeface="Roboto"/>
                <a:ea typeface="Roboto"/>
                <a:cs typeface="Roboto"/>
                <a:sym typeface="Roboto"/>
              </a:rPr>
              <a:t>Apakah usia pengguna memengaruhi durasi rata-rata perjalanan bersepeda?</a:t>
            </a:r>
            <a:endParaRPr i="1"/>
          </a:p>
          <a:p>
            <a:pPr indent="0" lvl="0" marL="914400" rtl="0" algn="l">
              <a:spcBef>
                <a:spcPts val="0"/>
              </a:spcBef>
              <a:spcAft>
                <a:spcPts val="1200"/>
              </a:spcAft>
              <a:buNone/>
            </a:pPr>
            <a:r>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Findings &amp; Insights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Apa saja lokasi pengambilan sepeda Citi Bike yang paling populer?</a:t>
            </a:r>
            <a:endParaRPr/>
          </a:p>
        </p:txBody>
      </p:sp>
      <p:sp>
        <p:nvSpPr>
          <p:cNvPr id="87" name="Google Shape;87;p17"/>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1200"/>
              </a:spcAft>
              <a:buNone/>
            </a:pPr>
            <a:r>
              <a:t/>
            </a:r>
            <a:endParaRPr i="1"/>
          </a:p>
        </p:txBody>
      </p:sp>
      <p:pic>
        <p:nvPicPr>
          <p:cNvPr id="88" name="Google Shape;88;p17" title="The most popular pick-up stations for Citi Bike.png"/>
          <p:cNvPicPr preferRelativeResize="0"/>
          <p:nvPr/>
        </p:nvPicPr>
        <p:blipFill>
          <a:blip r:embed="rId3">
            <a:alphaModFix/>
          </a:blip>
          <a:stretch>
            <a:fillRect/>
          </a:stretch>
        </p:blipFill>
        <p:spPr>
          <a:xfrm>
            <a:off x="2027800" y="1287513"/>
            <a:ext cx="5088401" cy="3146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a:t>
            </a:r>
            <a:r>
              <a:rPr lang="en"/>
              <a:t>Bagaimana rata-rata durasi perjalanan bervariasi di antara kelompok usia?</a:t>
            </a:r>
            <a:endParaRPr/>
          </a:p>
        </p:txBody>
      </p:sp>
      <p:sp>
        <p:nvSpPr>
          <p:cNvPr id="94" name="Google Shape;94;p18"/>
          <p:cNvSpPr txBox="1"/>
          <p:nvPr>
            <p:ph idx="1" type="body"/>
          </p:nvPr>
        </p:nvSpPr>
        <p:spPr>
          <a:xfrm>
            <a:off x="6346825" y="1391000"/>
            <a:ext cx="2232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100">
                <a:latin typeface="Arial"/>
                <a:ea typeface="Arial"/>
                <a:cs typeface="Arial"/>
                <a:sym typeface="Arial"/>
              </a:rPr>
              <a:t>Kelompok usia </a:t>
            </a:r>
            <a:r>
              <a:rPr b="1" lang="en" sz="1100">
                <a:latin typeface="Arial"/>
                <a:ea typeface="Arial"/>
                <a:cs typeface="Arial"/>
                <a:sym typeface="Arial"/>
              </a:rPr>
              <a:t>75+</a:t>
            </a:r>
            <a:r>
              <a:rPr lang="en" sz="1100">
                <a:latin typeface="Arial"/>
                <a:ea typeface="Arial"/>
                <a:cs typeface="Arial"/>
                <a:sym typeface="Arial"/>
              </a:rPr>
              <a:t> memiliki durasi perjalanan </a:t>
            </a:r>
            <a:r>
              <a:rPr b="1" lang="en" sz="1100">
                <a:latin typeface="Arial"/>
                <a:ea typeface="Arial"/>
                <a:cs typeface="Arial"/>
                <a:sym typeface="Arial"/>
              </a:rPr>
              <a:t>paling lama</a:t>
            </a:r>
            <a:endParaRPr b="1"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Kelompok usia </a:t>
            </a:r>
            <a:r>
              <a:rPr b="1" lang="en" sz="1100">
                <a:latin typeface="Arial"/>
                <a:ea typeface="Arial"/>
                <a:cs typeface="Arial"/>
                <a:sym typeface="Arial"/>
              </a:rPr>
              <a:t>65–74 dan 25–34</a:t>
            </a:r>
            <a:r>
              <a:rPr lang="en" sz="1100">
                <a:latin typeface="Arial"/>
                <a:ea typeface="Arial"/>
                <a:cs typeface="Arial"/>
                <a:sym typeface="Arial"/>
              </a:rPr>
              <a:t> memiliki durasi perjalanan </a:t>
            </a:r>
            <a:r>
              <a:rPr b="1" lang="en" sz="1100">
                <a:latin typeface="Arial"/>
                <a:ea typeface="Arial"/>
                <a:cs typeface="Arial"/>
                <a:sym typeface="Arial"/>
              </a:rPr>
              <a:t>paling pendek</a:t>
            </a:r>
            <a:endParaRPr b="1"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Kelompok usia lainnya memiliki durasi perjalanan yang </a:t>
            </a:r>
            <a:r>
              <a:rPr b="1" lang="en" sz="1100">
                <a:latin typeface="Arial"/>
                <a:ea typeface="Arial"/>
                <a:cs typeface="Arial"/>
                <a:sym typeface="Arial"/>
              </a:rPr>
              <a:t>relatif mirip</a:t>
            </a:r>
            <a:endParaRPr i="1">
              <a:solidFill>
                <a:srgbClr val="FF0000"/>
              </a:solidFill>
            </a:endParaRPr>
          </a:p>
          <a:p>
            <a:pPr indent="0" lvl="0" marL="914400" rtl="0" algn="l">
              <a:spcBef>
                <a:spcPts val="1200"/>
              </a:spcBef>
              <a:spcAft>
                <a:spcPts val="1200"/>
              </a:spcAft>
              <a:buNone/>
            </a:pPr>
            <a:r>
              <a:t/>
            </a:r>
            <a:endParaRPr i="1"/>
          </a:p>
        </p:txBody>
      </p:sp>
      <p:pic>
        <p:nvPicPr>
          <p:cNvPr id="95" name="Google Shape;95;p18" title="Average trip duration (in min) per age group.png"/>
          <p:cNvPicPr preferRelativeResize="0"/>
          <p:nvPr/>
        </p:nvPicPr>
        <p:blipFill>
          <a:blip r:embed="rId3">
            <a:alphaModFix/>
          </a:blip>
          <a:stretch>
            <a:fillRect/>
          </a:stretch>
        </p:blipFill>
        <p:spPr>
          <a:xfrm>
            <a:off x="844450" y="1391000"/>
            <a:ext cx="5205950" cy="3219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a:t>
            </a:r>
            <a:r>
              <a:rPr lang="en"/>
              <a:t>Kelompok usia manakah yang paling banyak menyewa sepeda?</a:t>
            </a:r>
            <a:endParaRPr/>
          </a:p>
        </p:txBody>
      </p:sp>
      <p:sp>
        <p:nvSpPr>
          <p:cNvPr id="101" name="Google Shape;101;p19"/>
          <p:cNvSpPr txBox="1"/>
          <p:nvPr>
            <p:ph idx="1" type="body"/>
          </p:nvPr>
        </p:nvSpPr>
        <p:spPr>
          <a:xfrm>
            <a:off x="6164400" y="1391000"/>
            <a:ext cx="2415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100">
                <a:latin typeface="Arial"/>
                <a:ea typeface="Arial"/>
                <a:cs typeface="Arial"/>
                <a:sym typeface="Arial"/>
              </a:rPr>
              <a:t>Kelompok usia </a:t>
            </a:r>
            <a:r>
              <a:rPr b="1" lang="en" sz="1100">
                <a:latin typeface="Arial"/>
                <a:ea typeface="Arial"/>
                <a:cs typeface="Arial"/>
                <a:sym typeface="Arial"/>
              </a:rPr>
              <a:t>35–44 tahun</a:t>
            </a:r>
            <a:r>
              <a:rPr lang="en" sz="1100">
                <a:latin typeface="Arial"/>
                <a:ea typeface="Arial"/>
                <a:cs typeface="Arial"/>
                <a:sym typeface="Arial"/>
              </a:rPr>
              <a:t> menyewa sepeda </a:t>
            </a:r>
            <a:r>
              <a:rPr b="1" lang="en" sz="1100">
                <a:latin typeface="Arial"/>
                <a:ea typeface="Arial"/>
                <a:cs typeface="Arial"/>
                <a:sym typeface="Arial"/>
              </a:rPr>
              <a:t>paling banyak</a:t>
            </a:r>
            <a:endParaRPr b="1"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Kelompok usia </a:t>
            </a:r>
            <a:r>
              <a:rPr b="1" lang="en" sz="1100">
                <a:latin typeface="Arial"/>
                <a:ea typeface="Arial"/>
                <a:cs typeface="Arial"/>
                <a:sym typeface="Arial"/>
              </a:rPr>
              <a:t>75+ dan 18–24 tahun</a:t>
            </a:r>
            <a:r>
              <a:rPr lang="en" sz="1100">
                <a:latin typeface="Arial"/>
                <a:ea typeface="Arial"/>
                <a:cs typeface="Arial"/>
                <a:sym typeface="Arial"/>
              </a:rPr>
              <a:t> menyewa sepeda </a:t>
            </a:r>
            <a:r>
              <a:rPr b="1" lang="en" sz="1100">
                <a:latin typeface="Arial"/>
                <a:ea typeface="Arial"/>
                <a:cs typeface="Arial"/>
                <a:sym typeface="Arial"/>
              </a:rPr>
              <a:t>paling sedikit</a:t>
            </a:r>
            <a:endParaRPr i="1"/>
          </a:p>
        </p:txBody>
      </p:sp>
      <p:pic>
        <p:nvPicPr>
          <p:cNvPr id="102" name="Google Shape;102;p19" title="Number of bikes rented across different age groups.png"/>
          <p:cNvPicPr preferRelativeResize="0"/>
          <p:nvPr/>
        </p:nvPicPr>
        <p:blipFill>
          <a:blip r:embed="rId3">
            <a:alphaModFix/>
          </a:blip>
          <a:stretch>
            <a:fillRect/>
          </a:stretch>
        </p:blipFill>
        <p:spPr>
          <a:xfrm>
            <a:off x="756100" y="1262875"/>
            <a:ext cx="5230001" cy="3233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a:t>
            </a:r>
            <a:r>
              <a:rPr lang="en"/>
              <a:t>. </a:t>
            </a:r>
            <a:r>
              <a:rPr lang="en" sz="2700">
                <a:latin typeface="Oswald"/>
                <a:ea typeface="Oswald"/>
                <a:cs typeface="Oswald"/>
                <a:sym typeface="Oswald"/>
              </a:rPr>
              <a:t>Bagaimana perbedaan pola penyewaan antara pengguna sekali pakai dan pelanggan jangka panjang pada hari yang berbeda?</a:t>
            </a:r>
            <a:endParaRPr sz="2700"/>
          </a:p>
        </p:txBody>
      </p:sp>
      <p:sp>
        <p:nvSpPr>
          <p:cNvPr id="108" name="Google Shape;108;p20"/>
          <p:cNvSpPr txBox="1"/>
          <p:nvPr>
            <p:ph idx="1" type="body"/>
          </p:nvPr>
        </p:nvSpPr>
        <p:spPr>
          <a:xfrm>
            <a:off x="6050400" y="1391000"/>
            <a:ext cx="2529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100">
                <a:latin typeface="Arial"/>
                <a:ea typeface="Arial"/>
                <a:cs typeface="Arial"/>
                <a:sym typeface="Arial"/>
              </a:rPr>
              <a:t>Penyewaan sepeda </a:t>
            </a:r>
            <a:r>
              <a:rPr b="1" lang="en" sz="1100">
                <a:latin typeface="Arial"/>
                <a:ea typeface="Arial"/>
                <a:cs typeface="Arial"/>
                <a:sym typeface="Arial"/>
              </a:rPr>
              <a:t>didominasi oleh pelanggan jangka panjang (subscribers)</a:t>
            </a:r>
            <a:endParaRPr b="1"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Pelanggan jangka panjang </a:t>
            </a:r>
            <a:r>
              <a:rPr b="1" lang="en" sz="1100">
                <a:latin typeface="Arial"/>
                <a:ea typeface="Arial"/>
                <a:cs typeface="Arial"/>
                <a:sym typeface="Arial"/>
              </a:rPr>
              <a:t>lebih aktif pada hari kerja (weekday)</a:t>
            </a:r>
            <a:endParaRPr b="1"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Pengguna sekali pakai </a:t>
            </a:r>
            <a:r>
              <a:rPr b="1" lang="en" sz="1100">
                <a:latin typeface="Arial"/>
                <a:ea typeface="Arial"/>
                <a:cs typeface="Arial"/>
                <a:sym typeface="Arial"/>
              </a:rPr>
              <a:t>lebih aktif pada akhir pekan (weekend)</a:t>
            </a:r>
            <a:endParaRPr i="1">
              <a:solidFill>
                <a:srgbClr val="FF0000"/>
              </a:solidFill>
            </a:endParaRPr>
          </a:p>
          <a:p>
            <a:pPr indent="0" lvl="0" marL="914400" rtl="0" algn="l">
              <a:spcBef>
                <a:spcPts val="1200"/>
              </a:spcBef>
              <a:spcAft>
                <a:spcPts val="1200"/>
              </a:spcAft>
              <a:buNone/>
            </a:pPr>
            <a:r>
              <a:t/>
            </a:r>
            <a:endParaRPr i="1"/>
          </a:p>
        </p:txBody>
      </p:sp>
      <p:pic>
        <p:nvPicPr>
          <p:cNvPr id="109" name="Google Shape;109;p20" title="Number of bikes rented by one-time users and subscribers on different days of the week.png"/>
          <p:cNvPicPr preferRelativeResize="0"/>
          <p:nvPr/>
        </p:nvPicPr>
        <p:blipFill>
          <a:blip r:embed="rId3">
            <a:alphaModFix/>
          </a:blip>
          <a:stretch>
            <a:fillRect/>
          </a:stretch>
        </p:blipFill>
        <p:spPr>
          <a:xfrm>
            <a:off x="884575" y="1525938"/>
            <a:ext cx="5088724" cy="3146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a:t>
            </a:r>
            <a:r>
              <a:rPr lang="en"/>
              <a:t>. </a:t>
            </a:r>
            <a:r>
              <a:rPr lang="en" sz="2700">
                <a:latin typeface="Oswald"/>
                <a:ea typeface="Oswald"/>
                <a:cs typeface="Oswald"/>
                <a:sym typeface="Oswald"/>
              </a:rPr>
              <a:t>Apakah usia pengguna memengaruhi durasi rata-rata perjalanan?</a:t>
            </a:r>
            <a:r>
              <a:rPr lang="en" sz="2700">
                <a:latin typeface="Oswald"/>
                <a:ea typeface="Oswald"/>
                <a:cs typeface="Oswald"/>
                <a:sym typeface="Oswald"/>
              </a:rPr>
              <a:t> </a:t>
            </a:r>
            <a:endParaRPr sz="2700"/>
          </a:p>
        </p:txBody>
      </p:sp>
      <p:sp>
        <p:nvSpPr>
          <p:cNvPr id="115" name="Google Shape;115;p21"/>
          <p:cNvSpPr txBox="1"/>
          <p:nvPr>
            <p:ph idx="1" type="body"/>
          </p:nvPr>
        </p:nvSpPr>
        <p:spPr>
          <a:xfrm>
            <a:off x="6301225" y="1391000"/>
            <a:ext cx="2278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sz="1100">
                <a:latin typeface="Arial"/>
                <a:ea typeface="Arial"/>
                <a:cs typeface="Arial"/>
                <a:sym typeface="Arial"/>
              </a:rPr>
              <a:t>Tidak terdapat hubungan langsung</a:t>
            </a:r>
            <a:r>
              <a:rPr lang="en" sz="1100">
                <a:latin typeface="Arial"/>
                <a:ea typeface="Arial"/>
                <a:cs typeface="Arial"/>
                <a:sym typeface="Arial"/>
              </a:rPr>
              <a:t> antara usia pengguna dan durasi perjalanan</a:t>
            </a:r>
            <a:endParaRPr sz="1100">
              <a:latin typeface="Arial"/>
              <a:ea typeface="Arial"/>
              <a:cs typeface="Arial"/>
              <a:sym typeface="Arial"/>
            </a:endParaRPr>
          </a:p>
          <a:p>
            <a:pPr indent="-342900" lvl="0" marL="457200" rtl="0" algn="l">
              <a:spcBef>
                <a:spcPts val="0"/>
              </a:spcBef>
              <a:spcAft>
                <a:spcPts val="0"/>
              </a:spcAft>
              <a:buSzPts val="1800"/>
              <a:buChar char="●"/>
            </a:pPr>
            <a:r>
              <a:rPr lang="en" sz="1100">
                <a:latin typeface="Arial"/>
                <a:ea typeface="Arial"/>
                <a:cs typeface="Arial"/>
                <a:sym typeface="Arial"/>
              </a:rPr>
              <a:t>Meskipun usia </a:t>
            </a:r>
            <a:r>
              <a:rPr b="1" lang="en" sz="1100">
                <a:latin typeface="Arial"/>
                <a:ea typeface="Arial"/>
                <a:cs typeface="Arial"/>
                <a:sym typeface="Arial"/>
              </a:rPr>
              <a:t>75+</a:t>
            </a:r>
            <a:r>
              <a:rPr lang="en" sz="1100">
                <a:latin typeface="Arial"/>
                <a:ea typeface="Arial"/>
                <a:cs typeface="Arial"/>
                <a:sym typeface="Arial"/>
              </a:rPr>
              <a:t> memiliki durasi perjalanan paling lama, pola durasi antar usia </a:t>
            </a:r>
            <a:r>
              <a:rPr b="1" lang="en" sz="1100">
                <a:latin typeface="Arial"/>
                <a:ea typeface="Arial"/>
                <a:cs typeface="Arial"/>
                <a:sym typeface="Arial"/>
              </a:rPr>
              <a:t>relatif seragam</a:t>
            </a:r>
            <a:endParaRPr i="1">
              <a:solidFill>
                <a:srgbClr val="FF0000"/>
              </a:solidFill>
            </a:endParaRPr>
          </a:p>
          <a:p>
            <a:pPr indent="0" lvl="0" marL="914400" rtl="0" algn="l">
              <a:spcBef>
                <a:spcPts val="1200"/>
              </a:spcBef>
              <a:spcAft>
                <a:spcPts val="1200"/>
              </a:spcAft>
              <a:buNone/>
            </a:pPr>
            <a:r>
              <a:t/>
            </a:r>
            <a:endParaRPr i="1"/>
          </a:p>
        </p:txBody>
      </p:sp>
      <p:pic>
        <p:nvPicPr>
          <p:cNvPr id="116" name="Google Shape;116;p21" title="chart (1).png"/>
          <p:cNvPicPr preferRelativeResize="0"/>
          <p:nvPr/>
        </p:nvPicPr>
        <p:blipFill>
          <a:blip r:embed="rId3">
            <a:alphaModFix/>
          </a:blip>
          <a:stretch>
            <a:fillRect/>
          </a:stretch>
        </p:blipFill>
        <p:spPr>
          <a:xfrm>
            <a:off x="937950" y="1222875"/>
            <a:ext cx="5363276" cy="3316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Summary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findings:</a:t>
            </a:r>
            <a:endParaRPr sz="2700"/>
          </a:p>
        </p:txBody>
      </p:sp>
      <p:sp>
        <p:nvSpPr>
          <p:cNvPr id="127" name="Google Shape;127;p23"/>
          <p:cNvSpPr txBox="1"/>
          <p:nvPr/>
        </p:nvSpPr>
        <p:spPr>
          <a:xfrm>
            <a:off x="311700" y="1152475"/>
            <a:ext cx="8267700" cy="3416400"/>
          </a:xfrm>
          <a:prstGeom prst="rect">
            <a:avLst/>
          </a:prstGeom>
          <a:noFill/>
          <a:ln>
            <a:noFill/>
          </a:ln>
        </p:spPr>
        <p:txBody>
          <a:bodyPr anchorCtr="0" anchor="t" bIns="91425" lIns="91425" spcFirstLastPara="1" rIns="91425" wrap="square" tIns="91425">
            <a:normAutofit fontScale="70000" lnSpcReduction="10000"/>
          </a:bodyPr>
          <a:lstStyle/>
          <a:p>
            <a:pPr indent="-308610" lvl="0" marL="457200" rtl="0" algn="l">
              <a:lnSpc>
                <a:spcPct val="115000"/>
              </a:lnSpc>
              <a:spcBef>
                <a:spcPts val="1200"/>
              </a:spcBef>
              <a:spcAft>
                <a:spcPts val="0"/>
              </a:spcAft>
              <a:buClr>
                <a:srgbClr val="000000"/>
              </a:buClr>
              <a:buSzPct val="93864"/>
              <a:buFont typeface="Roboto Light"/>
              <a:buChar char="●"/>
            </a:pPr>
            <a:r>
              <a:rPr b="1" i="1" lang="en" sz="1917">
                <a:latin typeface="Roboto"/>
                <a:ea typeface="Roboto"/>
                <a:cs typeface="Roboto"/>
                <a:sym typeface="Roboto"/>
              </a:rPr>
              <a:t>Lokasi pengambilan sepeda paling populer:</a:t>
            </a:r>
            <a:br>
              <a:rPr i="1" lang="en" sz="1800">
                <a:solidFill>
                  <a:srgbClr val="000000"/>
                </a:solidFill>
                <a:latin typeface="Roboto Light"/>
                <a:ea typeface="Roboto Light"/>
                <a:cs typeface="Roboto Light"/>
                <a:sym typeface="Roboto Light"/>
              </a:rPr>
            </a:br>
            <a:endParaRPr i="1" sz="1800">
              <a:solidFill>
                <a:srgbClr val="000000"/>
              </a:solidFill>
              <a:latin typeface="Roboto Light"/>
              <a:ea typeface="Roboto Light"/>
              <a:cs typeface="Roboto Light"/>
              <a:sym typeface="Roboto Light"/>
            </a:endParaRPr>
          </a:p>
          <a:p>
            <a:pPr indent="-290830" lvl="1" marL="914400" rtl="0" algn="l">
              <a:lnSpc>
                <a:spcPct val="115000"/>
              </a:lnSpc>
              <a:spcBef>
                <a:spcPts val="0"/>
              </a:spcBef>
              <a:spcAft>
                <a:spcPts val="0"/>
              </a:spcAft>
              <a:buClr>
                <a:srgbClr val="000000"/>
              </a:buClr>
              <a:buSzPct val="84436"/>
              <a:buFont typeface="Roboto Light"/>
              <a:buChar char="○"/>
            </a:pPr>
            <a:r>
              <a:rPr i="1" lang="en" sz="1658">
                <a:latin typeface="Roboto Light"/>
                <a:ea typeface="Roboto Light"/>
                <a:cs typeface="Roboto Light"/>
                <a:sym typeface="Roboto Light"/>
              </a:rPr>
              <a:t>Grove St Path, Exchange Place, Sip Ave, Hamilton Park, &amp; Morris Canal</a:t>
            </a: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08610" lvl="0" marL="457200" rtl="0" algn="l">
              <a:lnSpc>
                <a:spcPct val="115000"/>
              </a:lnSpc>
              <a:spcBef>
                <a:spcPts val="0"/>
              </a:spcBef>
              <a:spcAft>
                <a:spcPts val="0"/>
              </a:spcAft>
              <a:buClr>
                <a:srgbClr val="000000"/>
              </a:buClr>
              <a:buSzPct val="93311"/>
              <a:buFont typeface="Roboto Light"/>
              <a:buChar char="●"/>
            </a:pPr>
            <a:r>
              <a:rPr b="1" i="1" lang="en" sz="1929">
                <a:solidFill>
                  <a:srgbClr val="000000"/>
                </a:solidFill>
                <a:latin typeface="Roboto"/>
                <a:ea typeface="Roboto"/>
                <a:cs typeface="Roboto"/>
                <a:sym typeface="Roboto"/>
              </a:rPr>
              <a:t>Customer base: </a:t>
            </a:r>
            <a:br>
              <a:rPr b="1" i="1" lang="en" sz="1800">
                <a:solidFill>
                  <a:srgbClr val="000000"/>
                </a:solidFill>
                <a:latin typeface="Roboto"/>
                <a:ea typeface="Roboto"/>
                <a:cs typeface="Roboto"/>
                <a:sym typeface="Roboto"/>
              </a:rPr>
            </a:br>
            <a:endParaRPr i="1" sz="1800">
              <a:solidFill>
                <a:srgbClr val="000000"/>
              </a:solidFill>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118432"/>
              <a:buFont typeface="Roboto Light"/>
              <a:buChar char="○"/>
            </a:pPr>
            <a:r>
              <a:rPr i="1" lang="en">
                <a:latin typeface="Roboto Light"/>
                <a:ea typeface="Roboto Light"/>
                <a:cs typeface="Roboto Light"/>
                <a:sym typeface="Roboto Light"/>
              </a:rPr>
              <a:t>Sebagian besar pengguna merupakan pelanggan jangka panjang (long-term subscribers) yang lebih aktif pada hari kerja</a:t>
            </a:r>
            <a:endParaRPr i="1">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118432"/>
              <a:buFont typeface="Roboto Light"/>
              <a:buChar char="○"/>
            </a:pPr>
            <a:r>
              <a:rPr i="1" lang="en">
                <a:latin typeface="Roboto Light"/>
                <a:ea typeface="Roboto Light"/>
                <a:cs typeface="Roboto Light"/>
                <a:sym typeface="Roboto Light"/>
              </a:rPr>
              <a:t>Pengguna sekali pakai lebih aktif pada akhir pekan</a:t>
            </a:r>
            <a:endParaRPr i="1">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118432"/>
              <a:buFont typeface="Roboto Light"/>
              <a:buChar char="○"/>
            </a:pPr>
            <a:r>
              <a:rPr i="1" lang="en">
                <a:latin typeface="Roboto Light"/>
                <a:ea typeface="Roboto Light"/>
                <a:cs typeface="Roboto Light"/>
                <a:sym typeface="Roboto Light"/>
              </a:rPr>
              <a:t>Sepeda paling banyak disewa oleh kelompok usia 35–44 tahun</a:t>
            </a:r>
            <a:br>
              <a:rPr b="1" i="1" lang="en">
                <a:solidFill>
                  <a:srgbClr val="000000"/>
                </a:solidFill>
                <a:latin typeface="Roboto"/>
                <a:ea typeface="Roboto"/>
                <a:cs typeface="Roboto"/>
                <a:sym typeface="Roboto"/>
              </a:rPr>
            </a:b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14345" lvl="0" marL="457200" rtl="0" algn="l">
              <a:lnSpc>
                <a:spcPct val="115000"/>
              </a:lnSpc>
              <a:spcBef>
                <a:spcPts val="0"/>
              </a:spcBef>
              <a:spcAft>
                <a:spcPts val="0"/>
              </a:spcAft>
              <a:buClr>
                <a:srgbClr val="000000"/>
              </a:buClr>
              <a:buSzPct val="100000"/>
              <a:buFont typeface="Roboto Light"/>
              <a:buChar char="●"/>
            </a:pPr>
            <a:r>
              <a:rPr i="1" lang="en" sz="1929">
                <a:solidFill>
                  <a:srgbClr val="000000"/>
                </a:solidFill>
                <a:latin typeface="Roboto Light"/>
                <a:ea typeface="Roboto Light"/>
                <a:cs typeface="Roboto Light"/>
                <a:sym typeface="Roboto Light"/>
              </a:rPr>
              <a:t> </a:t>
            </a:r>
            <a:r>
              <a:rPr b="1" i="1" lang="en" sz="1929">
                <a:solidFill>
                  <a:srgbClr val="000000"/>
                </a:solidFill>
                <a:latin typeface="Roboto"/>
                <a:ea typeface="Roboto"/>
                <a:cs typeface="Roboto"/>
                <a:sym typeface="Roboto"/>
              </a:rPr>
              <a:t>Citi Bike customer behavior:</a:t>
            </a:r>
            <a:br>
              <a:rPr b="1" i="1" lang="en" sz="1929">
                <a:solidFill>
                  <a:srgbClr val="000000"/>
                </a:solidFill>
                <a:latin typeface="Roboto"/>
                <a:ea typeface="Roboto"/>
                <a:cs typeface="Roboto"/>
                <a:sym typeface="Roboto"/>
              </a:rPr>
            </a:br>
            <a:endParaRPr b="1" i="1" sz="1929">
              <a:solidFill>
                <a:srgbClr val="000000"/>
              </a:solidFill>
              <a:latin typeface="Roboto"/>
              <a:ea typeface="Roboto"/>
              <a:cs typeface="Roboto"/>
              <a:sym typeface="Roboto"/>
            </a:endParaRPr>
          </a:p>
          <a:p>
            <a:pPr indent="-302300"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Kelompok usia 75+ memiliki durasi perjalanan rata-rata paling lama, namun menyewa sepeda paling sedikit</a:t>
            </a:r>
            <a:endParaRPr i="1" sz="1658">
              <a:latin typeface="Roboto Light"/>
              <a:ea typeface="Roboto Light"/>
              <a:cs typeface="Roboto Light"/>
              <a:sym typeface="Roboto Light"/>
            </a:endParaRPr>
          </a:p>
          <a:p>
            <a:pPr indent="-302300"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Kelompok usia 65–74 dan 25–34 memiliki durasi perjalanan rata-rata paling pendek</a:t>
            </a:r>
            <a:endParaRPr i="1" sz="1658">
              <a:latin typeface="Roboto Light"/>
              <a:ea typeface="Roboto Light"/>
              <a:cs typeface="Roboto Light"/>
              <a:sym typeface="Roboto Light"/>
            </a:endParaRPr>
          </a:p>
          <a:p>
            <a:pPr indent="0" lvl="0" marL="0" rtl="0" algn="l">
              <a:lnSpc>
                <a:spcPct val="115000"/>
              </a:lnSpc>
              <a:spcBef>
                <a:spcPts val="1200"/>
              </a:spcBef>
              <a:spcAft>
                <a:spcPts val="1200"/>
              </a:spcAft>
              <a:buNone/>
            </a:pPr>
            <a:r>
              <a:t/>
            </a:r>
            <a:endParaRPr sz="1800">
              <a:solidFill>
                <a:srgbClr val="000000"/>
              </a:solidFill>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Actions &amp; Recommendations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Recommended actions:</a:t>
            </a:r>
            <a:endParaRPr sz="2700"/>
          </a:p>
        </p:txBody>
      </p:sp>
      <p:sp>
        <p:nvSpPr>
          <p:cNvPr id="138" name="Google Shape;138;p25"/>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i="1" lang="en">
                <a:latin typeface="Roboto"/>
                <a:ea typeface="Roboto"/>
                <a:cs typeface="Roboto"/>
                <a:sym typeface="Roboto"/>
              </a:rPr>
              <a:t>Product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Menambahkan lebih banyak sepeda di lokasi pengambilan dengan permintaan tertinggi</a:t>
            </a:r>
            <a:endParaRPr i="1" sz="1635"/>
          </a:p>
          <a:p>
            <a:pPr indent="0" lvl="0" marL="0" rtl="0" algn="l">
              <a:spcBef>
                <a:spcPts val="1200"/>
              </a:spcBef>
              <a:spcAft>
                <a:spcPts val="0"/>
              </a:spcAft>
              <a:buNone/>
            </a:pPr>
            <a:r>
              <a:rPr b="1" i="1" lang="en">
                <a:latin typeface="Roboto"/>
                <a:ea typeface="Roboto"/>
                <a:cs typeface="Roboto"/>
                <a:sym typeface="Roboto"/>
              </a:rPr>
              <a:t>Marketing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Memfokuskan strategi pemasaran pada pelanggan jangka panjang berusia 35–44 tahun yang paling aktif pada hari kerja, karena kelompok ini kemungkinan merupakan penduduk New York yang menggunakan Citi Bike untuk mobilitas harian.</a:t>
            </a:r>
            <a:endParaRPr i="1"/>
          </a:p>
          <a:p>
            <a:pPr indent="0" lvl="0" marL="914400" rtl="0" algn="l">
              <a:spcBef>
                <a:spcPts val="1200"/>
              </a:spcBef>
              <a:spcAft>
                <a:spcPts val="1200"/>
              </a:spcAft>
              <a:buNone/>
            </a:pPr>
            <a:r>
              <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